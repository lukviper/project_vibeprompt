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03799D-88CF-4569-807D-FDF1E2B3E3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B10FD8-DA64-48A0-8269-D4FBEE7C10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410FE8-8311-4000-81CC-0E076AC628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A868A8-A6E8-4D0A-AF8B-20903D5ECD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42159E-05C7-4F73-816B-5BA61CF2A6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172E1C-8A60-47D1-99AF-956E0C95F2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78EA2F-F5A1-46BC-B424-F8B2797CAE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486F16-10E9-4FEA-9E04-21DEAE0D81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8992CF-64A7-440D-BEC0-93917EAB78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D1A7C7-0578-4CCD-A57A-25A8CD14B3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453F38-26D3-4946-8B81-E523F1A222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21A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C57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502920" y="2926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NLP  ·  PROJECT BRIEFING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502920" y="155448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C5703A"/>
                </a:solidFill>
                <a:effectLst/>
                <a:uFillTx/>
                <a:latin typeface="Georgia"/>
              </a:rPr>
              <a:t>VibePrompt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502920" y="2743200"/>
            <a:ext cx="105152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Calibri"/>
              </a:rPr>
              <a:t>A conversational project architect powered by hybrid NLP + structured ProjectState.</a:t>
            </a:r>
            <a:endParaRPr lang="en-US" sz="2400" b="1" u="none" strike="noStrike">
              <a:solidFill>
                <a:srgbClr val="FFFFFF"/>
              </a:solidFill>
              <a:effectLst/>
              <a:highlight>
                <a:srgbClr val="000000"/>
              </a:highlight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502920" y="4937760"/>
            <a:ext cx="1005804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C6B64"/>
                </a:solidFill>
                <a:effectLst/>
                <a:uFillTx/>
                <a:latin typeface="Calibri"/>
              </a:rPr>
              <a:t>Team – Luk_Viper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C6B64"/>
                </a:solidFill>
                <a:effectLst/>
                <a:uFillTx/>
                <a:latin typeface="Calibri"/>
              </a:rPr>
              <a:t>Team No.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C57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502920" y="2926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AGENDA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502920" y="594360"/>
            <a:ext cx="11155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121A17"/>
                </a:solidFill>
                <a:effectLst/>
                <a:uFillTx/>
                <a:latin typeface="Georgia"/>
              </a:rPr>
              <a:t>Four questions this deck answers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640080" y="219456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5703A"/>
                </a:solidFill>
                <a:effectLst/>
                <a:uFillTx/>
                <a:latin typeface="Georgia"/>
              </a:rPr>
              <a:t>01  WHAT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3931920" y="219456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What is VibePrompt as a product?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640080" y="315468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5703A"/>
                </a:solidFill>
                <a:effectLst/>
                <a:uFillTx/>
                <a:latin typeface="Georgia"/>
              </a:rPr>
              <a:t>02  WHY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3931920" y="3154680"/>
            <a:ext cx="7314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Why VibePrompt exists 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640080" y="411480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5703A"/>
                </a:solidFill>
                <a:effectLst/>
                <a:uFillTx/>
                <a:latin typeface="Georgia"/>
              </a:rPr>
              <a:t>03  HOW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3931920" y="4114800"/>
            <a:ext cx="7314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How VibePrompt Works ?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640080" y="507492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5703A"/>
                </a:solidFill>
                <a:effectLst/>
                <a:uFillTx/>
                <a:latin typeface="Georgia"/>
              </a:rPr>
              <a:t>04  DIFFERENT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3931920" y="5074920"/>
            <a:ext cx="7314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How is VibePrompt different from GenAI chat wrappers 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21A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C57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502920" y="2926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01  ·  WHAT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502920" y="594360"/>
            <a:ext cx="11155320" cy="6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AF7F0"/>
                </a:solidFill>
                <a:effectLst/>
                <a:uFillTx/>
                <a:latin typeface="Georgia"/>
              </a:rPr>
              <a:t>A project specification system  -  not a chatbot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502920" y="201168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22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VibePrompt turns messy human intent into a validated ProjectState,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then compiles an agent-executable development prompt.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6"/>
          <p:cNvSpPr/>
          <p:nvPr/>
        </p:nvSpPr>
        <p:spPr>
          <a:xfrm>
            <a:off x="502920" y="3657600"/>
            <a:ext cx="3611520" cy="22856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Product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Structured project understanding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+ decision support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7"/>
          <p:cNvSpPr/>
          <p:nvPr/>
        </p:nvSpPr>
        <p:spPr>
          <a:xfrm>
            <a:off x="4297680" y="3657600"/>
            <a:ext cx="3611520" cy="22856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Artifact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Validated specification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+ Cursor/Codex-ready prompt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8"/>
          <p:cNvSpPr/>
          <p:nvPr/>
        </p:nvSpPr>
        <p:spPr>
          <a:xfrm>
            <a:off x="8092440" y="3657600"/>
            <a:ext cx="3611520" cy="22856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Interface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One conversational workspace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with internal engines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-75600" y="0"/>
            <a:ext cx="12191400" cy="6857640"/>
          </a:xfrm>
          <a:prstGeom prst="rect">
            <a:avLst/>
          </a:prstGeom>
          <a:solidFill>
            <a:srgbClr val="FAF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C57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502920" y="2926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01  ·  WHAT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502920" y="594360"/>
            <a:ext cx="11155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121A17"/>
                </a:solidFill>
                <a:effectLst/>
                <a:uFillTx/>
                <a:latin typeface="Georgia"/>
              </a:rPr>
              <a:t>The canonical pipeline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5"/>
          <p:cNvSpPr/>
          <p:nvPr/>
        </p:nvSpPr>
        <p:spPr>
          <a:xfrm>
            <a:off x="365760" y="2560320"/>
            <a:ext cx="1206720" cy="639720"/>
          </a:xfrm>
          <a:prstGeom prst="roundRect">
            <a:avLst>
              <a:gd name="adj" fmla="val 40000"/>
            </a:avLst>
          </a:prstGeom>
          <a:solidFill>
            <a:srgbClr val="121A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Intent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6"/>
          <p:cNvSpPr/>
          <p:nvPr/>
        </p:nvSpPr>
        <p:spPr>
          <a:xfrm>
            <a:off x="1664280" y="2560320"/>
            <a:ext cx="1206720" cy="639720"/>
          </a:xfrm>
          <a:prstGeom prst="roundRect">
            <a:avLst>
              <a:gd name="adj" fmla="val 40000"/>
            </a:avLst>
          </a:prstGeom>
          <a:solidFill>
            <a:srgbClr val="121A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NLP extract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7"/>
          <p:cNvSpPr/>
          <p:nvPr/>
        </p:nvSpPr>
        <p:spPr>
          <a:xfrm>
            <a:off x="2962800" y="2560320"/>
            <a:ext cx="1206720" cy="639720"/>
          </a:xfrm>
          <a:prstGeom prst="roundRect">
            <a:avLst>
              <a:gd name="adj" fmla="val 40000"/>
            </a:avLst>
          </a:prstGeom>
          <a:solidFill>
            <a:srgbClr val="121A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ProjectState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8"/>
          <p:cNvSpPr/>
          <p:nvPr/>
        </p:nvSpPr>
        <p:spPr>
          <a:xfrm>
            <a:off x="4260960" y="2560320"/>
            <a:ext cx="1206720" cy="639720"/>
          </a:xfrm>
          <a:prstGeom prst="roundRect">
            <a:avLst>
              <a:gd name="adj" fmla="val 40000"/>
            </a:avLst>
          </a:prstGeom>
          <a:solidFill>
            <a:srgbClr val="121A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Change detect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9"/>
          <p:cNvSpPr/>
          <p:nvPr/>
        </p:nvSpPr>
        <p:spPr>
          <a:xfrm>
            <a:off x="5559480" y="2560320"/>
            <a:ext cx="1206720" cy="639720"/>
          </a:xfrm>
          <a:prstGeom prst="roundRect">
            <a:avLst>
              <a:gd name="adj" fmla="val 40000"/>
            </a:avLst>
          </a:prstGeom>
          <a:solidFill>
            <a:srgbClr val="121A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Research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10"/>
          <p:cNvSpPr/>
          <p:nvPr/>
        </p:nvSpPr>
        <p:spPr>
          <a:xfrm>
            <a:off x="6858000" y="2560320"/>
            <a:ext cx="1206720" cy="639720"/>
          </a:xfrm>
          <a:prstGeom prst="roundRect">
            <a:avLst>
              <a:gd name="adj" fmla="val 40000"/>
            </a:avLst>
          </a:prstGeom>
          <a:solidFill>
            <a:srgbClr val="121A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Decide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11"/>
          <p:cNvSpPr/>
          <p:nvPr/>
        </p:nvSpPr>
        <p:spPr>
          <a:xfrm>
            <a:off x="8156520" y="2560320"/>
            <a:ext cx="1206720" cy="639720"/>
          </a:xfrm>
          <a:prstGeom prst="roundRect">
            <a:avLst>
              <a:gd name="adj" fmla="val 40000"/>
            </a:avLst>
          </a:prstGeom>
          <a:solidFill>
            <a:srgbClr val="121A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Grill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13"/>
          <p:cNvSpPr/>
          <p:nvPr/>
        </p:nvSpPr>
        <p:spPr>
          <a:xfrm>
            <a:off x="9537480" y="2560680"/>
            <a:ext cx="1206720" cy="639720"/>
          </a:xfrm>
          <a:prstGeom prst="roundRect">
            <a:avLst>
              <a:gd name="adj" fmla="val 40000"/>
            </a:avLst>
          </a:prstGeom>
          <a:solidFill>
            <a:srgbClr val="121A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Agent prompt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4"/>
          <p:cNvSpPr/>
          <p:nvPr/>
        </p:nvSpPr>
        <p:spPr>
          <a:xfrm>
            <a:off x="502920" y="3840480"/>
            <a:ext cx="109724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20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Chat is the interface.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ProjectState is the source of truth.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The prompt is a compiled export ,  not the product itself.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21A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C57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502920" y="2926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02  ·  WHY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502920" y="594360"/>
            <a:ext cx="11155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AF7F0"/>
                </a:solidFill>
                <a:effectLst/>
                <a:uFillTx/>
                <a:latin typeface="Georgia"/>
              </a:rPr>
              <a:t>Students fail at specifying before they fail at coding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5"/>
          <p:cNvSpPr/>
          <p:nvPr/>
        </p:nvSpPr>
        <p:spPr>
          <a:xfrm>
            <a:off x="3657600" y="2057760"/>
            <a:ext cx="5394600" cy="18284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Vague briefs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“NLP + any domain, time to complete is within  six weeks, no idea…” becomes unstructured chat that becomes vague.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7"/>
          <p:cNvSpPr/>
          <p:nvPr/>
        </p:nvSpPr>
        <p:spPr>
          <a:xfrm>
            <a:off x="502920" y="4114800"/>
            <a:ext cx="5394600" cy="18284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Prompt dumping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Whole transcripts pasted into Cursor → filler, contradictions, missing acceptance criteria.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8"/>
          <p:cNvSpPr/>
          <p:nvPr/>
        </p:nvSpPr>
        <p:spPr>
          <a:xfrm>
            <a:off x="6172200" y="4114800"/>
            <a:ext cx="5394600" cy="18284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Friendly GenAI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Chatbots agree. Feasibility, datasets, and AI necessity never get grilled.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C57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502920" y="2926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02  ·  WHY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502920" y="594360"/>
            <a:ext cx="11155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121A17"/>
                </a:solidFill>
                <a:effectLst/>
                <a:uFillTx/>
                <a:latin typeface="Georgia"/>
              </a:rPr>
              <a:t>The insight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5"/>
          <p:cNvSpPr/>
          <p:nvPr/>
        </p:nvSpPr>
        <p:spPr>
          <a:xfrm>
            <a:off x="502920" y="2103120"/>
            <a:ext cx="10972440" cy="20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2600" b="1" u="none" strike="noStrike">
                <a:solidFill>
                  <a:srgbClr val="121A17"/>
                </a:solidFill>
                <a:effectLst/>
                <a:uFillTx/>
                <a:latin typeface="Georgia"/>
              </a:rPr>
              <a:t>If conversation is the source of truth,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600" b="1" u="none" strike="noStrike">
                <a:solidFill>
                  <a:srgbClr val="121A17"/>
                </a:solidFill>
                <a:effectLst/>
                <a:uFillTx/>
                <a:latin typeface="Georgia"/>
              </a:rPr>
              <a:t>every agent run inherits chaos.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600" b="1" u="none" strike="noStrike">
                <a:solidFill>
                  <a:srgbClr val="121A17"/>
                </a:solidFill>
                <a:effectLst/>
                <a:uFillTx/>
                <a:latin typeface="Georgia"/>
              </a:rPr>
              <a:t>If ProjectState is the source of truth,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21A17"/>
                </a:solidFill>
                <a:effectLst/>
                <a:uFillTx/>
                <a:latin typeface="Georgia"/>
              </a:rPr>
              <a:t>every prompt is measurable, coverable, and repairable.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6"/>
          <p:cNvSpPr/>
          <p:nvPr/>
        </p:nvSpPr>
        <p:spPr>
          <a:xfrm>
            <a:off x="502920" y="5029200"/>
            <a:ext cx="10972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C6B64"/>
                </a:solidFill>
                <a:effectLst/>
                <a:uFillTx/>
                <a:latin typeface="Calibri"/>
              </a:rPr>
              <a:t>VibePrompt exists to reduce the regenerate–pivot–regenerate loop that burns tokens and 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21A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C57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502920" y="2926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03  ·  HOW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502920" y="594360"/>
            <a:ext cx="11155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AF7F0"/>
                </a:solidFill>
                <a:effectLst/>
                <a:uFillTx/>
                <a:latin typeface="Georgia"/>
              </a:rPr>
              <a:t>Hybrid NLP + engines under one chat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5"/>
          <p:cNvSpPr/>
          <p:nvPr/>
        </p:nvSpPr>
        <p:spPr>
          <a:xfrm>
            <a:off x="502920" y="2194560"/>
            <a:ext cx="3611520" cy="384012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NLP layer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Intent classification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Requirement / constraint extraction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Similarity, drift, contradiction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Rules + embeddings + optional NLI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6"/>
          <p:cNvSpPr/>
          <p:nvPr/>
        </p:nvSpPr>
        <p:spPr>
          <a:xfrm>
            <a:off x="4297680" y="2194560"/>
            <a:ext cx="3611520" cy="384012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State layer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Versioned ProjectState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Provenance on decisions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PROPOSED → ACTIVE lifecycle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User must approve tech choices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7"/>
          <p:cNvSpPr/>
          <p:nvPr/>
        </p:nvSpPr>
        <p:spPr>
          <a:xfrm>
            <a:off x="8092440" y="2194560"/>
            <a:ext cx="3611520" cy="384012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Decision layer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Impact analysis on changes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Alternatives + trade-offs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Adaptive research levels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Adversarial Grill report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C57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502920" y="2926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03  ·  HOW  ·  NLP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502920" y="594360"/>
            <a:ext cx="11155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121A17"/>
                </a:solidFill>
                <a:effectLst/>
                <a:uFillTx/>
                <a:latin typeface="Georgia"/>
              </a:rPr>
              <a:t>Not “user → Gemini → everything”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786600" y="2892960"/>
            <a:ext cx="10789560" cy="16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Intent  —  Discovery, ideation, requirement change, research, grill, architecture, prompt…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7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Extraction  —  Subject, team, duration, tech, domains, actor/capability/acceptance cues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7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Change detect  —  COMPATIBLE · SCOPE_CHANGE · CONFLICT · UNCERTAIN vs existing state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7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LLM role  —  Generation, research narrative, polish , behind a routed provider abstraction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21A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C57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3"/>
          <p:cNvSpPr/>
          <p:nvPr/>
        </p:nvSpPr>
        <p:spPr>
          <a:xfrm>
            <a:off x="502920" y="2926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03  ·  HOW  ·  FLOW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502920" y="594360"/>
            <a:ext cx="11155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AF7F0"/>
                </a:solidFill>
                <a:effectLst/>
                <a:uFillTx/>
                <a:latin typeface="Georgia"/>
              </a:rPr>
              <a:t>From vague idea to agent prompt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5"/>
          <p:cNvSpPr/>
          <p:nvPr/>
        </p:nvSpPr>
        <p:spPr>
          <a:xfrm>
            <a:off x="640080" y="2011680"/>
            <a:ext cx="1078956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1. Guest or login → describe intent in chat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2. NLP fills ProjectState; ideation offers selectable ideas in-chat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3. User pivots → impact analysis explains affected decisions + options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4. Research runs only at the needed level (0–3); no invented sources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5. Architecture/tech stay PROPOSED until the user accepts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6. Grill produces BLOCKING / HIGH RISK / CONCERNS / VALIDATED…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8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7. Spec + prompt compile from state; validator checks coverage &amp; repairs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C57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502920" y="2926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04  ·  DIFFERENT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4"/>
          <p:cNvSpPr/>
          <p:nvPr/>
        </p:nvSpPr>
        <p:spPr>
          <a:xfrm>
            <a:off x="502920" y="594360"/>
            <a:ext cx="11155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121A17"/>
                </a:solidFill>
                <a:effectLst/>
                <a:uFillTx/>
                <a:latin typeface="Georgia"/>
              </a:rPr>
              <a:t>Vs a normal chatbot / GenAI wrapper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5"/>
          <p:cNvSpPr/>
          <p:nvPr/>
        </p:nvSpPr>
        <p:spPr>
          <a:xfrm>
            <a:off x="502920" y="196596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Dimension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6"/>
          <p:cNvSpPr/>
          <p:nvPr/>
        </p:nvSpPr>
        <p:spPr>
          <a:xfrm>
            <a:off x="4297680" y="196596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Chatbot wrapper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7"/>
          <p:cNvSpPr/>
          <p:nvPr/>
        </p:nvSpPr>
        <p:spPr>
          <a:xfrm>
            <a:off x="8092440" y="196596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VibePrompt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8"/>
          <p:cNvSpPr/>
          <p:nvPr/>
        </p:nvSpPr>
        <p:spPr>
          <a:xfrm>
            <a:off x="502920" y="256032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Memory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9"/>
          <p:cNvSpPr/>
          <p:nvPr/>
        </p:nvSpPr>
        <p:spPr>
          <a:xfrm>
            <a:off x="4297680" y="256032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Transcript / context window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8092440" y="256032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F5D50"/>
                </a:solidFill>
                <a:effectLst/>
                <a:uFillTx/>
                <a:latin typeface="Calibri"/>
              </a:rPr>
              <a:t>Versioned ProjectState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1"/>
          <p:cNvSpPr/>
          <p:nvPr/>
        </p:nvSpPr>
        <p:spPr>
          <a:xfrm>
            <a:off x="502920" y="315468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Truth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2"/>
          <p:cNvSpPr/>
          <p:nvPr/>
        </p:nvSpPr>
        <p:spPr>
          <a:xfrm>
            <a:off x="4297680" y="315468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Whatever the model said last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3"/>
          <p:cNvSpPr/>
          <p:nvPr/>
        </p:nvSpPr>
        <p:spPr>
          <a:xfrm>
            <a:off x="8092440" y="315468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F5D50"/>
                </a:solidFill>
                <a:effectLst/>
                <a:uFillTx/>
                <a:latin typeface="Calibri"/>
              </a:rPr>
              <a:t>Provenanced decisions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4"/>
          <p:cNvSpPr/>
          <p:nvPr/>
        </p:nvSpPr>
        <p:spPr>
          <a:xfrm>
            <a:off x="502920" y="374904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Changes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5"/>
          <p:cNvSpPr/>
          <p:nvPr/>
        </p:nvSpPr>
        <p:spPr>
          <a:xfrm>
            <a:off x="4297680" y="374904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Silent overwrite / vibes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6"/>
          <p:cNvSpPr/>
          <p:nvPr/>
        </p:nvSpPr>
        <p:spPr>
          <a:xfrm>
            <a:off x="8092440" y="374904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F5D50"/>
                </a:solidFill>
                <a:effectLst/>
                <a:uFillTx/>
                <a:latin typeface="Calibri"/>
              </a:rPr>
              <a:t>Impact + conflict surfaced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7"/>
          <p:cNvSpPr/>
          <p:nvPr/>
        </p:nvSpPr>
        <p:spPr>
          <a:xfrm>
            <a:off x="502920" y="434340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Tech choices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8"/>
          <p:cNvSpPr/>
          <p:nvPr/>
        </p:nvSpPr>
        <p:spPr>
          <a:xfrm>
            <a:off x="4297680" y="434340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Model picks a stack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9"/>
          <p:cNvSpPr/>
          <p:nvPr/>
        </p:nvSpPr>
        <p:spPr>
          <a:xfrm>
            <a:off x="8092440" y="434340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F5D50"/>
                </a:solidFill>
                <a:effectLst/>
                <a:uFillTx/>
                <a:latin typeface="Calibri"/>
              </a:rPr>
              <a:t>PROPOSED until user decides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0"/>
          <p:cNvSpPr/>
          <p:nvPr/>
        </p:nvSpPr>
        <p:spPr>
          <a:xfrm>
            <a:off x="502920" y="493776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Quality bar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1"/>
          <p:cNvSpPr/>
          <p:nvPr/>
        </p:nvSpPr>
        <p:spPr>
          <a:xfrm>
            <a:off x="4297680" y="493776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Helpful tone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22"/>
          <p:cNvSpPr/>
          <p:nvPr/>
        </p:nvSpPr>
        <p:spPr>
          <a:xfrm>
            <a:off x="8092440" y="493776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F5D50"/>
                </a:solidFill>
                <a:effectLst/>
                <a:uFillTx/>
                <a:latin typeface="Calibri"/>
              </a:rPr>
              <a:t>Adversarial Grill + metrics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3"/>
          <p:cNvSpPr/>
          <p:nvPr/>
        </p:nvSpPr>
        <p:spPr>
          <a:xfrm>
            <a:off x="502920" y="553212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Agent handoff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4"/>
          <p:cNvSpPr/>
          <p:nvPr/>
        </p:nvSpPr>
        <p:spPr>
          <a:xfrm>
            <a:off x="4297680" y="553212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Paste the chat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25"/>
          <p:cNvSpPr/>
          <p:nvPr/>
        </p:nvSpPr>
        <p:spPr>
          <a:xfrm>
            <a:off x="8092440" y="553212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F5D50"/>
                </a:solidFill>
                <a:effectLst/>
                <a:uFillTx/>
                <a:latin typeface="Calibri"/>
              </a:rPr>
              <a:t>Compiled, validated prompt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21A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C57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3"/>
          <p:cNvSpPr/>
          <p:nvPr/>
        </p:nvSpPr>
        <p:spPr>
          <a:xfrm>
            <a:off x="502920" y="2926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04  ·  DIFFERENT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4"/>
          <p:cNvSpPr/>
          <p:nvPr/>
        </p:nvSpPr>
        <p:spPr>
          <a:xfrm>
            <a:off x="502920" y="594360"/>
            <a:ext cx="11155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AF7F0"/>
                </a:solidFill>
                <a:effectLst/>
                <a:uFillTx/>
                <a:latin typeface="Georgia"/>
              </a:rPr>
              <a:t>Vs other GenAI product patterns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5"/>
          <p:cNvSpPr/>
          <p:nvPr/>
        </p:nvSpPr>
        <p:spPr>
          <a:xfrm>
            <a:off x="502920" y="2103120"/>
            <a:ext cx="5394600" cy="18284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Prompt generators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They output text. VibePrompt maintains state, detects when intent changes, and validates coverage before export.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6"/>
          <p:cNvSpPr/>
          <p:nvPr/>
        </p:nvSpPr>
        <p:spPr>
          <a:xfrm>
            <a:off x="6172200" y="2103120"/>
            <a:ext cx="5394600" cy="18284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Autonomous agents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They try to build. VibePrompt helps humans decide what should be built — then hands a clean brief to coding agents.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7"/>
          <p:cNvSpPr/>
          <p:nvPr/>
        </p:nvSpPr>
        <p:spPr>
          <a:xfrm>
            <a:off x="3200400" y="4114800"/>
            <a:ext cx="5394600" cy="18284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RAG chatbots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They retrieve documents. VibePrompt retrieves evidence when needed, but refuses to invent papers or force a winner.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C57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3"/>
          <p:cNvSpPr/>
          <p:nvPr/>
        </p:nvSpPr>
        <p:spPr>
          <a:xfrm>
            <a:off x="502920" y="2926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PRINCIPLES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4"/>
          <p:cNvSpPr/>
          <p:nvPr/>
        </p:nvSpPr>
        <p:spPr>
          <a:xfrm>
            <a:off x="502920" y="594360"/>
            <a:ext cx="11155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121A17"/>
                </a:solidFill>
                <a:effectLst/>
                <a:uFillTx/>
                <a:latin typeface="Georgia"/>
              </a:rPr>
              <a:t>Non-negotiables baked into the design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5"/>
          <p:cNvSpPr/>
          <p:nvPr/>
        </p:nvSpPr>
        <p:spPr>
          <a:xfrm>
            <a:off x="502920" y="2286000"/>
            <a:ext cx="3611520" cy="1691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8D0C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8A4518"/>
                </a:solidFill>
                <a:effectLst/>
                <a:uFillTx/>
                <a:latin typeface="Calibri"/>
              </a:rPr>
              <a:t>1.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Never blindly agree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6"/>
          <p:cNvSpPr/>
          <p:nvPr/>
        </p:nvSpPr>
        <p:spPr>
          <a:xfrm>
            <a:off x="4297680" y="2286000"/>
            <a:ext cx="3611520" cy="1691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8D0C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8A4518"/>
                </a:solidFill>
                <a:effectLst/>
                <a:uFillTx/>
                <a:latin typeface="Calibri"/>
              </a:rPr>
              <a:t>2.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Never silently change user intent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7"/>
          <p:cNvSpPr/>
          <p:nvPr/>
        </p:nvSpPr>
        <p:spPr>
          <a:xfrm>
            <a:off x="8092440" y="2286000"/>
            <a:ext cx="3611520" cy="1691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8D0C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8A4518"/>
                </a:solidFill>
                <a:effectLst/>
                <a:uFillTx/>
                <a:latin typeface="Calibri"/>
              </a:rPr>
              <a:t>3.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Never force a technical decision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8"/>
          <p:cNvSpPr/>
          <p:nvPr/>
        </p:nvSpPr>
        <p:spPr>
          <a:xfrm>
            <a:off x="502920" y="4206240"/>
            <a:ext cx="3611520" cy="1691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8D0C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8A4518"/>
                </a:solidFill>
                <a:effectLst/>
                <a:uFillTx/>
                <a:latin typeface="Calibri"/>
              </a:rPr>
              <a:t>4.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Distinguish facts from recommendations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9"/>
          <p:cNvSpPr/>
          <p:nvPr/>
        </p:nvSpPr>
        <p:spPr>
          <a:xfrm>
            <a:off x="4297680" y="4206240"/>
            <a:ext cx="3611520" cy="1691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8D0C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8A4518"/>
                </a:solidFill>
                <a:effectLst/>
                <a:uFillTx/>
                <a:latin typeface="Calibri"/>
              </a:rPr>
              <a:t>5.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Never manufacture certainty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10"/>
          <p:cNvSpPr/>
          <p:nvPr/>
        </p:nvSpPr>
        <p:spPr>
          <a:xfrm>
            <a:off x="8092440" y="4206240"/>
            <a:ext cx="3611520" cy="1691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8D0C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8A4518"/>
                </a:solidFill>
                <a:effectLst/>
                <a:uFillTx/>
                <a:latin typeface="Calibri"/>
              </a:rPr>
              <a:t>6.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121A17"/>
                </a:solidFill>
                <a:effectLst/>
                <a:uFillTx/>
                <a:latin typeface="Calibri"/>
              </a:rPr>
              <a:t>Never dump raw chat into the final prompt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153000" y="360"/>
            <a:ext cx="12191400" cy="6857640"/>
          </a:xfrm>
          <a:prstGeom prst="rect">
            <a:avLst/>
          </a:prstGeom>
          <a:solidFill>
            <a:srgbClr val="121A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C57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3"/>
          <p:cNvSpPr/>
          <p:nvPr/>
        </p:nvSpPr>
        <p:spPr>
          <a:xfrm>
            <a:off x="502920" y="2926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IMPLEMENTATION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4"/>
          <p:cNvSpPr/>
          <p:nvPr/>
        </p:nvSpPr>
        <p:spPr>
          <a:xfrm>
            <a:off x="502920" y="594360"/>
            <a:ext cx="11155320" cy="6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AF7F0"/>
                </a:solidFill>
                <a:effectLst/>
                <a:uFillTx/>
                <a:latin typeface="Georgia"/>
              </a:rPr>
              <a:t>How it is planned to be built today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5"/>
          <p:cNvSpPr/>
          <p:nvPr/>
        </p:nvSpPr>
        <p:spPr>
          <a:xfrm>
            <a:off x="502920" y="2194560"/>
            <a:ext cx="3657240" cy="36572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Backend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FastAPI · SQLAlchemy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Hybrid NLP (spaCy / sklearn /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sentence-transformers / NLI)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Gemini + OpenAI providers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Research · Grill · Architecture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Prompt compile + validate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6"/>
          <p:cNvSpPr/>
          <p:nvPr/>
        </p:nvSpPr>
        <p:spPr>
          <a:xfrm>
            <a:off x="4343400" y="2194560"/>
            <a:ext cx="3657240" cy="36572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Frontend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Flutter (web-first)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Chat workspace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Capability bar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Inline idea selection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Accept / Reject decisions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Guest + login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7"/>
          <p:cNvSpPr/>
          <p:nvPr/>
        </p:nvSpPr>
        <p:spPr>
          <a:xfrm>
            <a:off x="8183880" y="2194560"/>
            <a:ext cx="3474360" cy="36572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37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Proof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Master Spec regressions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Acceptance journeys A1–A7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Phases 0–11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Phase 12 (mobile) deferred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C57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3"/>
          <p:cNvSpPr/>
          <p:nvPr/>
        </p:nvSpPr>
        <p:spPr>
          <a:xfrm>
            <a:off x="502920" y="2926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CLOSING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4"/>
          <p:cNvSpPr/>
          <p:nvPr/>
        </p:nvSpPr>
        <p:spPr>
          <a:xfrm>
            <a:off x="502920" y="1645920"/>
            <a:ext cx="10972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C5703A"/>
                </a:solidFill>
                <a:effectLst/>
                <a:uFillTx/>
                <a:latin typeface="Georgia"/>
              </a:rPr>
              <a:t>VibePrompt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5"/>
          <p:cNvSpPr/>
          <p:nvPr/>
        </p:nvSpPr>
        <p:spPr>
          <a:xfrm>
            <a:off x="502920" y="330660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2800" b="1" u="none" strike="noStrike">
                <a:solidFill>
                  <a:srgbClr val="121A17"/>
                </a:solidFill>
                <a:effectLst/>
                <a:uFillTx/>
                <a:latin typeface="Georgia"/>
              </a:rPr>
              <a:t>Generate your project from Nothing.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6"/>
          <p:cNvSpPr/>
          <p:nvPr/>
        </p:nvSpPr>
        <p:spPr>
          <a:xfrm>
            <a:off x="457560" y="480060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5C6B64"/>
                </a:solidFill>
                <a:effectLst/>
                <a:uFillTx/>
                <a:latin typeface="Calibri"/>
              </a:rPr>
              <a:t>Not merely: chatbot + LLM API + text generator.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C6B64"/>
                </a:solidFill>
                <a:effectLst/>
                <a:uFillTx/>
                <a:latin typeface="Calibri"/>
              </a:rPr>
              <a:t>A system for intent, conflict, evidence, decision, grill, and agent handoff.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21A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C57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3"/>
          <p:cNvSpPr/>
          <p:nvPr/>
        </p:nvSpPr>
        <p:spPr>
          <a:xfrm>
            <a:off x="502920" y="2926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5703A"/>
                </a:solidFill>
                <a:effectLst/>
                <a:uFillTx/>
                <a:latin typeface="Calibri"/>
              </a:rPr>
              <a:t>END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4"/>
          <p:cNvSpPr/>
          <p:nvPr/>
        </p:nvSpPr>
        <p:spPr>
          <a:xfrm>
            <a:off x="502920" y="237744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C5703A"/>
                </a:solidFill>
                <a:effectLst/>
                <a:uFillTx/>
                <a:latin typeface="Georgia"/>
              </a:rPr>
              <a:t>Questions?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5"/>
          <p:cNvSpPr/>
          <p:nvPr/>
        </p:nvSpPr>
        <p:spPr>
          <a:xfrm>
            <a:off x="502920" y="3840480"/>
            <a:ext cx="1097244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What · Why · How · Different from GenAI wrappers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AF7F0"/>
                </a:solidFill>
                <a:effectLst/>
                <a:uFillTx/>
                <a:latin typeface="Calibri"/>
              </a:rPr>
              <a:t>Presented By – Shasank Dahal (CSE24257)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2026-09-28T09:50:05Z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